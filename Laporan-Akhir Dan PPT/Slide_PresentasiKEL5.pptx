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PERANCANGAN JARINGAN KAMPUS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9640" y="1993392"/>
            <a:ext cx="1033272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rPr dirty="0"/>
              <a:t>Mata Kuliah: </a:t>
            </a:r>
            <a:r>
              <a:rPr dirty="0" err="1"/>
              <a:t>Jaringan</a:t>
            </a:r>
            <a:r>
              <a:rPr dirty="0"/>
              <a:t> </a:t>
            </a:r>
            <a:r>
              <a:rPr dirty="0" err="1"/>
              <a:t>Komputer</a:t>
            </a:r>
            <a:endParaRPr dirty="0"/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rPr dirty="0" err="1"/>
              <a:t>Tahun</a:t>
            </a:r>
            <a:r>
              <a:rPr dirty="0"/>
              <a:t> Akademik 2025/2026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rPr dirty="0" err="1"/>
              <a:t>Kelompok</a:t>
            </a:r>
            <a:r>
              <a:rPr lang="en-US" dirty="0"/>
              <a:t> 5: 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rPr lang="en-US" dirty="0"/>
              <a:t>1.Andhika Dwi Pratama (2401020144)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rPr lang="en-US" dirty="0"/>
              <a:t>2.Muhammad </a:t>
            </a:r>
            <a:r>
              <a:rPr lang="en-US" dirty="0" err="1"/>
              <a:t>Heisal</a:t>
            </a:r>
            <a:r>
              <a:rPr lang="en-US" dirty="0"/>
              <a:t> </a:t>
            </a:r>
            <a:r>
              <a:rPr lang="en-US" dirty="0" err="1"/>
              <a:t>Alfarizi</a:t>
            </a:r>
            <a:r>
              <a:rPr lang="en-US" dirty="0"/>
              <a:t> (2401020148)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rPr lang="en-US" dirty="0"/>
              <a:t>3.Kristian Nugroho </a:t>
            </a:r>
            <a:r>
              <a:rPr lang="en-US" dirty="0" err="1"/>
              <a:t>Keliat</a:t>
            </a:r>
            <a:r>
              <a:rPr lang="en-US" dirty="0"/>
              <a:t> (2401020152)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rPr lang="en-US" dirty="0"/>
              <a:t>4.Muhammad </a:t>
            </a:r>
            <a:r>
              <a:rPr lang="en-US" dirty="0" err="1"/>
              <a:t>Pancayandra</a:t>
            </a:r>
            <a:r>
              <a:rPr lang="en-US" dirty="0"/>
              <a:t> Anugrah (2401020154)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Universitas memiliki beberapa gedung yang memerlukan</a:t>
            </a:r>
          </a:p>
          <a:p>
            <a:pPr>
              <a:spcAft>
                <a:spcPts val="1200"/>
              </a:spcAft>
              <a:defRPr sz="2400"/>
            </a:pPr>
            <a:r>
              <a:t>konektivitas jaringan terpusat untuk layanan akademik</a:t>
            </a:r>
          </a:p>
          <a:p>
            <a:pPr>
              <a:spcAft>
                <a:spcPts val="1200"/>
              </a:spcAft>
              <a:defRPr sz="2400"/>
            </a:pPr>
            <a:r>
              <a:t>dan administrasi.</a:t>
            </a:r>
          </a:p>
          <a:p>
            <a:pPr>
              <a:spcAft>
                <a:spcPts val="1200"/>
              </a:spcAft>
              <a:defRPr sz="2400"/>
            </a:pPr>
            <a:endParaRPr/>
          </a:p>
          <a:p>
            <a:pPr>
              <a:spcAft>
                <a:spcPts val="1200"/>
              </a:spcAft>
              <a:defRPr sz="2400"/>
            </a:pPr>
            <a:r>
              <a:t>Kebutuhan:</a:t>
            </a:r>
          </a:p>
          <a:p>
            <a:pPr>
              <a:spcAft>
                <a:spcPts val="1200"/>
              </a:spcAft>
              <a:defRPr sz="2400"/>
            </a:pPr>
            <a:r>
              <a:t>•  Konektivitas antar gedung yang andal</a:t>
            </a:r>
          </a:p>
          <a:p>
            <a:pPr>
              <a:spcAft>
                <a:spcPts val="1200"/>
              </a:spcAft>
              <a:defRPr sz="2400"/>
            </a:pPr>
            <a:r>
              <a:t>•  DHCP otomatis untuk kemudahan manajemen</a:t>
            </a:r>
          </a:p>
          <a:p>
            <a:pPr>
              <a:spcAft>
                <a:spcPts val="1200"/>
              </a:spcAft>
              <a:defRPr sz="2400"/>
            </a:pPr>
            <a:r>
              <a:t>•  Resolusi DNS untuk akses layanan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Tujuan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1. Merancang jaringan kampus dengan segmentasi VLSM</a:t>
            </a:r>
          </a:p>
          <a:p>
            <a:pPr>
              <a:spcAft>
                <a:spcPts val="1200"/>
              </a:spcAft>
              <a:defRPr sz="2400"/>
            </a:pPr>
            <a:r>
              <a:t>2. Implementasi routing statis antar 3 router</a:t>
            </a:r>
          </a:p>
          <a:p>
            <a:pPr>
              <a:spcAft>
                <a:spcPts val="1200"/>
              </a:spcAft>
              <a:defRPr sz="2400"/>
            </a:pPr>
            <a:r>
              <a:t>3. Layanan DHCP otomatis terpusat</a:t>
            </a:r>
          </a:p>
          <a:p>
            <a:pPr>
              <a:spcAft>
                <a:spcPts val="1200"/>
              </a:spcAft>
              <a:defRPr sz="2400"/>
            </a:pPr>
            <a:r>
              <a:t>4. Resolusi DNS untuk seluruh perangkat jaringan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Topologi Jaringan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Perangkat:</a:t>
            </a:r>
          </a:p>
          <a:p>
            <a:pPr>
              <a:spcAft>
                <a:spcPts val="1200"/>
              </a:spcAft>
              <a:defRPr sz="2400"/>
            </a:pPr>
            <a:r>
              <a:t>•  3 Router: R1 (Rektorat), R2 (Fak A/Lab), R3 (Fak B/Perpus)</a:t>
            </a:r>
          </a:p>
          <a:p>
            <a:pPr>
              <a:spcAft>
                <a:spcPts val="1200"/>
              </a:spcAft>
              <a:defRPr sz="2400"/>
            </a:pPr>
            <a:r>
              <a:t>•  4 Switch: SW1-SW4</a:t>
            </a:r>
          </a:p>
          <a:p>
            <a:pPr>
              <a:spcAft>
                <a:spcPts val="1200"/>
              </a:spcAft>
              <a:defRPr sz="2400"/>
            </a:pPr>
            <a:r>
              <a:t>•  2 Server: DNS (10.0.0.225), DHCP (10.0.0.226)</a:t>
            </a:r>
          </a:p>
          <a:p>
            <a:pPr>
              <a:spcAft>
                <a:spcPts val="1200"/>
              </a:spcAft>
              <a:defRPr sz="2400"/>
            </a:pPr>
            <a:r>
              <a:t>•  1 Windows Client</a:t>
            </a:r>
          </a:p>
          <a:p>
            <a:pPr>
              <a:spcAft>
                <a:spcPts val="1200"/>
              </a:spcAft>
              <a:defRPr sz="2400"/>
            </a:pPr>
            <a:endParaRPr/>
          </a:p>
          <a:p>
            <a:pPr>
              <a:spcAft>
                <a:spcPts val="1200"/>
              </a:spcAft>
              <a:defRPr sz="2400"/>
            </a:pPr>
            <a:r>
              <a:t>R1 sebagai router utama menghubungkan R2 dan R3</a:t>
            </a:r>
          </a:p>
          <a:p>
            <a:pPr>
              <a:spcAft>
                <a:spcPts val="1200"/>
              </a:spcAft>
              <a:defRPr sz="2400"/>
            </a:pPr>
            <a:r>
              <a:t>via serial link /30 (10.0.0.232/30, 236/30, 240/30)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Segmentasi VLSM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Base Network: 10.0.0.0/16</a:t>
            </a:r>
          </a:p>
          <a:p>
            <a:pPr>
              <a:spcAft>
                <a:spcPts val="1200"/>
              </a:spcAft>
              <a:defRPr sz="2400"/>
            </a:pPr>
            <a:endParaRPr/>
          </a:p>
          <a:p>
            <a:pPr>
              <a:spcAft>
                <a:spcPts val="1200"/>
              </a:spcAft>
              <a:defRPr sz="2400"/>
            </a:pPr>
            <a:r>
              <a:t>Fakultas A (55 host) =&gt; /26 =&gt; 10.0.0.0/26</a:t>
            </a:r>
          </a:p>
          <a:p>
            <a:pPr>
              <a:spcAft>
                <a:spcPts val="1200"/>
              </a:spcAft>
              <a:defRPr sz="2400"/>
            </a:pPr>
            <a:r>
              <a:t>Fakultas B (45 host) =&gt; /26 =&gt; 10.0.0.64/26</a:t>
            </a:r>
          </a:p>
          <a:p>
            <a:pPr>
              <a:spcAft>
                <a:spcPts val="1200"/>
              </a:spcAft>
              <a:defRPr sz="2400"/>
            </a:pPr>
            <a:r>
              <a:t>Lab (30 host) =&gt; /27 =&gt; 10.0.0.128/27</a:t>
            </a:r>
          </a:p>
          <a:p>
            <a:pPr>
              <a:spcAft>
                <a:spcPts val="1200"/>
              </a:spcAft>
              <a:defRPr sz="2400"/>
            </a:pPr>
            <a:r>
              <a:t>Rektorat (25 host) =&gt; /27 =&gt; 10.0.0.160/27</a:t>
            </a:r>
          </a:p>
          <a:p>
            <a:pPr>
              <a:spcAft>
                <a:spcPts val="1200"/>
              </a:spcAft>
              <a:defRPr sz="2400"/>
            </a:pPr>
            <a:r>
              <a:t>Perpustakaan (15 host) =&gt; /27 =&gt; 10.0.0.192/27</a:t>
            </a:r>
          </a:p>
          <a:p>
            <a:pPr>
              <a:spcAft>
                <a:spcPts val="1200"/>
              </a:spcAft>
              <a:defRPr sz="2400"/>
            </a:pPr>
            <a:r>
              <a:t>Server (5 host) =&gt; /29 =&gt; 10.0.0.224/29</a:t>
            </a:r>
          </a:p>
          <a:p>
            <a:pPr>
              <a:spcAft>
                <a:spcPts val="1200"/>
              </a:spcAft>
              <a:defRPr sz="2400"/>
            </a:pPr>
            <a:r>
              <a:t>Serial Links (2 host) =&gt; /30 =&gt; 10.0.0.232/236/240/30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IP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R1 Fa0/0: 10.0.0.161/27 (Rektorat)</a:t>
            </a:r>
          </a:p>
          <a:p>
            <a:pPr>
              <a:spcAft>
                <a:spcPts val="1200"/>
              </a:spcAft>
              <a:defRPr sz="2400"/>
            </a:pPr>
            <a:r>
              <a:t>R1 Fa0/1: 10.0.0.225/29 (Server)</a:t>
            </a:r>
          </a:p>
          <a:p>
            <a:pPr>
              <a:spcAft>
                <a:spcPts val="1200"/>
              </a:spcAft>
              <a:defRPr sz="2400"/>
            </a:pPr>
            <a:r>
              <a:t>R2 Fa0/0: 10.0.0.1/26 (Fakultas A)</a:t>
            </a:r>
          </a:p>
          <a:p>
            <a:pPr>
              <a:spcAft>
                <a:spcPts val="1200"/>
              </a:spcAft>
              <a:defRPr sz="2400"/>
            </a:pPr>
            <a:r>
              <a:t>R2 Fa0/1: 10.0.0.129/27 (Lab)</a:t>
            </a:r>
          </a:p>
          <a:p>
            <a:pPr>
              <a:spcAft>
                <a:spcPts val="1200"/>
              </a:spcAft>
              <a:defRPr sz="2400"/>
            </a:pPr>
            <a:r>
              <a:t>R3 Fa0/0: 10.0.0.65/26 (Fakultas B)</a:t>
            </a:r>
          </a:p>
          <a:p>
            <a:pPr>
              <a:spcAft>
                <a:spcPts val="1200"/>
              </a:spcAft>
              <a:defRPr sz="2400"/>
            </a:pPr>
            <a:r>
              <a:t>R3 Fa0/1: 10.0.0.193/27 (Perpustakaan)</a:t>
            </a:r>
          </a:p>
          <a:p>
            <a:pPr>
              <a:spcAft>
                <a:spcPts val="1200"/>
              </a:spcAft>
              <a:defRPr sz="2400"/>
            </a:pPr>
            <a:r>
              <a:t>DNS: 10.0.0.225 | DHCP: 10.0.0.226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Routing Statis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R1: 5 route statis ke jaringan di belakang R2 &amp; R3</a:t>
            </a:r>
          </a:p>
          <a:p>
            <a:pPr>
              <a:spcAft>
                <a:spcPts val="1200"/>
              </a:spcAft>
              <a:defRPr sz="2400"/>
            </a:pPr>
            <a:r>
              <a:t>R2: Default route ke R1 + 5 route spesifik</a:t>
            </a:r>
          </a:p>
          <a:p>
            <a:pPr>
              <a:spcAft>
                <a:spcPts val="1200"/>
              </a:spcAft>
              <a:defRPr sz="2400"/>
            </a:pPr>
            <a:r>
              <a:t>R3: Default route ke R1 + 5 route spesifik</a:t>
            </a:r>
          </a:p>
          <a:p>
            <a:pPr>
              <a:spcAft>
                <a:spcPts val="1200"/>
              </a:spcAft>
              <a:defRPr sz="2400"/>
            </a:pPr>
            <a:endParaRPr/>
          </a:p>
          <a:p>
            <a:pPr>
              <a:spcAft>
                <a:spcPts val="1200"/>
              </a:spcAft>
              <a:defRPr sz="2400"/>
            </a:pPr>
            <a:r>
              <a:t>Contoh:</a:t>
            </a:r>
          </a:p>
          <a:p>
            <a:pPr>
              <a:spcAft>
                <a:spcPts val="1200"/>
              </a:spcAft>
              <a:defRPr sz="2400"/>
            </a:pPr>
            <a:r>
              <a:t>R1: ip route 10.0.0.0 255.255.255.192 10.0.0.234</a:t>
            </a:r>
          </a:p>
          <a:p>
            <a:pPr>
              <a:spcAft>
                <a:spcPts val="1200"/>
              </a:spcAft>
              <a:defRPr sz="2400"/>
            </a:pPr>
            <a:r>
              <a:t>R2: ip route 0.0.0.0 0.0.0.0 10.0.0.233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DHCP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ISC DHCP Server pada Ubuntu (10.0.0.226)</a:t>
            </a:r>
          </a:p>
          <a:p>
            <a:pPr>
              <a:spcAft>
                <a:spcPts val="1200"/>
              </a:spcAft>
              <a:defRPr sz="2400"/>
            </a:pPr>
            <a:r>
              <a:t>5 DHCP pool untuk setiap segmen LAN</a:t>
            </a:r>
          </a:p>
          <a:p>
            <a:pPr>
              <a:spcAft>
                <a:spcPts val="1200"/>
              </a:spcAft>
              <a:defRPr sz="2400"/>
            </a:pPr>
            <a:r>
              <a:t>Router menggunakan ip helper-address 10.0.0.226</a:t>
            </a:r>
          </a:p>
          <a:p>
            <a:pPr>
              <a:spcAft>
                <a:spcPts val="1200"/>
              </a:spcAft>
              <a:defRPr sz="2400"/>
            </a:pPr>
            <a:r>
              <a:t>Domain: kampus.ac.id | DNS: 10.0.0.225</a:t>
            </a:r>
          </a:p>
          <a:p>
            <a:pPr>
              <a:spcAft>
                <a:spcPts val="1200"/>
              </a:spcAft>
              <a:defRPr sz="2400"/>
            </a:pPr>
            <a:r>
              <a:t>Client mendapat IP 10.0.0.162/27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DNS Server (BIND9)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Forward zone: kampus.ac.id</a:t>
            </a:r>
          </a:p>
          <a:p>
            <a:pPr>
              <a:spcAft>
                <a:spcPts val="1200"/>
              </a:spcAft>
              <a:defRPr sz="2400"/>
            </a:pPr>
            <a:r>
              <a:t>7 record A + 1 CNAME (www)</a:t>
            </a:r>
          </a:p>
          <a:p>
            <a:pPr>
              <a:spcAft>
                <a:spcPts val="1200"/>
              </a:spcAft>
              <a:defRPr sz="2400"/>
            </a:pPr>
            <a:r>
              <a:t>Reverse zone: 0.0.10.in-addr.arpa</a:t>
            </a:r>
          </a:p>
          <a:p>
            <a:pPr>
              <a:spcAft>
                <a:spcPts val="1200"/>
              </a:spcAft>
              <a:defRPr sz="2400"/>
            </a:pPr>
            <a:r>
              <a:t>7 record PTR</a:t>
            </a:r>
          </a:p>
          <a:p>
            <a:pPr>
              <a:spcAft>
                <a:spcPts val="1200"/>
              </a:spcAft>
              <a:defRPr sz="2400"/>
            </a:pPr>
            <a:r>
              <a:t>nslookup, dig, dan ping hostname berhasil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Hasil Pengujian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✓ Ping antar router: 100% sukses</a:t>
            </a:r>
          </a:p>
          <a:p>
            <a:pPr>
              <a:spcAft>
                <a:spcPts val="1200"/>
              </a:spcAft>
              <a:defRPr sz="2400"/>
            </a:pPr>
            <a:r>
              <a:t>✓ Ping lintas subnet (Client ke Server): 100%</a:t>
            </a:r>
          </a:p>
          <a:p>
            <a:pPr>
              <a:spcAft>
                <a:spcPts val="1200"/>
              </a:spcAft>
              <a:defRPr sz="2400"/>
            </a:pPr>
            <a:r>
              <a:t>✓ Traceroute sesuai topologi (2-3 hop)</a:t>
            </a:r>
          </a:p>
          <a:p>
            <a:pPr>
              <a:spcAft>
                <a:spcPts val="1200"/>
              </a:spcAft>
              <a:defRPr sz="2400"/>
            </a:pPr>
            <a:r>
              <a:t>✓ DHCP otomatis: client mendapat IP 10.0.0.162/27</a:t>
            </a:r>
          </a:p>
          <a:p>
            <a:pPr>
              <a:spcAft>
                <a:spcPts val="1200"/>
              </a:spcAft>
              <a:defRPr sz="2400"/>
            </a:pPr>
            <a:r>
              <a:t>✓ DNS forward: 7/7 hostname ter-resolve</a:t>
            </a:r>
          </a:p>
          <a:p>
            <a:pPr>
              <a:spcAft>
                <a:spcPts val="1200"/>
              </a:spcAft>
              <a:defRPr sz="2400"/>
            </a:pPr>
            <a:r>
              <a:t>✓ DNS reverse: sesuai</a:t>
            </a:r>
          </a:p>
          <a:p>
            <a:pPr>
              <a:spcAft>
                <a:spcPts val="1200"/>
              </a:spcAft>
              <a:defRPr sz="2400"/>
            </a:pPr>
            <a:r>
              <a:t>✓ Ping via hostname: sukses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1. Jaringan kampus terintegrasi berhasil dirancang &amp; diimplementasikan</a:t>
            </a:r>
          </a:p>
          <a:p>
            <a:pPr>
              <a:spcAft>
                <a:spcPts val="1200"/>
              </a:spcAft>
              <a:defRPr sz="2400"/>
            </a:pPr>
            <a:r>
              <a:t>2. VLSM memaksimalkan efisiensi alamat IP</a:t>
            </a:r>
          </a:p>
          <a:p>
            <a:pPr>
              <a:spcAft>
                <a:spcPts val="1200"/>
              </a:spcAft>
              <a:defRPr sz="2400"/>
            </a:pPr>
            <a:r>
              <a:t>3. Routing statis menghubungkan 9 subnet</a:t>
            </a:r>
          </a:p>
          <a:p>
            <a:pPr>
              <a:spcAft>
                <a:spcPts val="1200"/>
              </a:spcAft>
              <a:defRPr sz="2400"/>
            </a:pPr>
            <a:r>
              <a:t>4. DHCP &amp; DNS berjalan sesuai fungsinya</a:t>
            </a:r>
          </a:p>
          <a:p>
            <a:pPr>
              <a:spcAft>
                <a:spcPts val="1200"/>
              </a:spcAft>
              <a:defRPr sz="2400"/>
            </a:pPr>
            <a:r>
              <a:t>5. Seluruh pengujian: 100% sukses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Saran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 Pengembangan ke routing dinamis (OSPF/EIGRP)</a:t>
            </a:r>
          </a:p>
          <a:p>
            <a:pPr>
              <a:spcAft>
                <a:spcPts val="1200"/>
              </a:spcAft>
              <a:defRPr sz="2400"/>
            </a:pPr>
            <a:r>
              <a:t>•  Penambahan firewall untuk keamanan</a:t>
            </a:r>
          </a:p>
          <a:p>
            <a:pPr>
              <a:spcAft>
                <a:spcPts val="1200"/>
              </a:spcAft>
              <a:defRPr sz="2400"/>
            </a:pPr>
            <a:r>
              <a:t>•  Redundansi link antar router</a:t>
            </a:r>
          </a:p>
          <a:p>
            <a:pPr>
              <a:spcAft>
                <a:spcPts val="1200"/>
              </a:spcAft>
              <a:defRPr sz="2400"/>
            </a:pPr>
            <a:r>
              <a:t>•  Monitoring jaringan (SNMP)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B5B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570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 VIVOBOOK</dc:creator>
  <cp:keywords/>
  <dc:description>generated using python-pptx</dc:description>
  <cp:lastModifiedBy>pancayandraa@gmail.com</cp:lastModifiedBy>
  <cp:revision>2</cp:revision>
  <dcterms:created xsi:type="dcterms:W3CDTF">2013-01-27T09:14:16Z</dcterms:created>
  <dcterms:modified xsi:type="dcterms:W3CDTF">2026-06-27T09:28:04Z</dcterms:modified>
  <cp:category/>
</cp:coreProperties>
</file>